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4"/>
  </p:sldMasterIdLst>
  <p:notesMasterIdLst>
    <p:notesMasterId r:id="rId21"/>
  </p:notesMasterIdLst>
  <p:sldIdLst>
    <p:sldId id="262" r:id="rId5"/>
    <p:sldId id="269" r:id="rId6"/>
    <p:sldId id="271" r:id="rId7"/>
    <p:sldId id="272" r:id="rId8"/>
    <p:sldId id="290" r:id="rId9"/>
    <p:sldId id="282" r:id="rId10"/>
    <p:sldId id="274" r:id="rId11"/>
    <p:sldId id="275" r:id="rId12"/>
    <p:sldId id="277" r:id="rId13"/>
    <p:sldId id="279" r:id="rId14"/>
    <p:sldId id="284" r:id="rId15"/>
    <p:sldId id="281" r:id="rId16"/>
    <p:sldId id="283" r:id="rId17"/>
    <p:sldId id="291" r:id="rId18"/>
    <p:sldId id="285" r:id="rId19"/>
    <p:sldId id="266" r:id="rId2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FF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28A91D-94A7-DA73-B446-8FF62BC703FE}" v="15" dt="2025-09-29T08:57:12.541"/>
    <p1510:client id="{97706C5C-AC71-46A6-AB8C-5C8D34101030}" v="694" dt="2025-09-29T07:21:58.9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B947C9-1D99-42D9-A471-9424077737A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58D3858-FCA9-44E6-9D3B-01692C0586C0}">
      <dgm:prSet phldrT="[Text]" phldr="0"/>
      <dgm:spPr/>
      <dgm:t>
        <a:bodyPr/>
        <a:lstStyle/>
        <a:p>
          <a:r>
            <a:rPr lang="en-IN"/>
            <a:t>Stream speed </a:t>
          </a:r>
        </a:p>
      </dgm:t>
    </dgm:pt>
    <dgm:pt modelId="{2479E375-F014-4376-BFE7-5BC6DB61EFF9}" type="parTrans" cxnId="{87978590-4084-4BA1-8BAB-A2CC0A551F54}">
      <dgm:prSet/>
      <dgm:spPr/>
      <dgm:t>
        <a:bodyPr/>
        <a:lstStyle/>
        <a:p>
          <a:endParaRPr lang="en-IN"/>
        </a:p>
      </dgm:t>
    </dgm:pt>
    <dgm:pt modelId="{E5D46B8A-7235-45C8-9CA5-310CEDC8430E}" type="sibTrans" cxnId="{87978590-4084-4BA1-8BAB-A2CC0A551F54}">
      <dgm:prSet/>
      <dgm:spPr/>
      <dgm:t>
        <a:bodyPr/>
        <a:lstStyle/>
        <a:p>
          <a:endParaRPr lang="en-IN"/>
        </a:p>
      </dgm:t>
    </dgm:pt>
    <dgm:pt modelId="{1C4962B2-4F83-4B63-B735-990FD9CECCF7}">
      <dgm:prSet phldrT="[Text]" phldr="0"/>
      <dgm:spPr/>
      <dgm:t>
        <a:bodyPr/>
        <a:lstStyle/>
        <a:p>
          <a:r>
            <a:rPr lang="en-IN"/>
            <a:t>Density </a:t>
          </a:r>
        </a:p>
      </dgm:t>
    </dgm:pt>
    <dgm:pt modelId="{E2A68BFE-1C23-49D1-A476-07C86B8AFBF3}" type="parTrans" cxnId="{CC51EF1C-F58F-4E98-BD7C-E1932D232423}">
      <dgm:prSet/>
      <dgm:spPr/>
      <dgm:t>
        <a:bodyPr/>
        <a:lstStyle/>
        <a:p>
          <a:endParaRPr lang="en-IN"/>
        </a:p>
      </dgm:t>
    </dgm:pt>
    <dgm:pt modelId="{A6A08BA1-78A3-4522-A412-A06A9E8BDDA2}" type="sibTrans" cxnId="{CC51EF1C-F58F-4E98-BD7C-E1932D232423}">
      <dgm:prSet/>
      <dgm:spPr/>
      <dgm:t>
        <a:bodyPr/>
        <a:lstStyle/>
        <a:p>
          <a:endParaRPr lang="en-IN"/>
        </a:p>
      </dgm:t>
    </dgm:pt>
    <dgm:pt modelId="{1768490B-512D-446A-A2A6-74E95EF6B6BA}">
      <dgm:prSet phldrT="[Text]" phldr="0"/>
      <dgm:spPr/>
      <dgm:t>
        <a:bodyPr/>
        <a:lstStyle/>
        <a:p>
          <a:r>
            <a:rPr lang="en-IN"/>
            <a:t>Model training </a:t>
          </a:r>
        </a:p>
      </dgm:t>
    </dgm:pt>
    <dgm:pt modelId="{8E909A8E-9EDC-49B9-B29D-60AF75D5DEDA}" type="parTrans" cxnId="{58B37292-D1A9-4ACC-97BD-5F2AF8CA60A4}">
      <dgm:prSet/>
      <dgm:spPr/>
      <dgm:t>
        <a:bodyPr/>
        <a:lstStyle/>
        <a:p>
          <a:endParaRPr lang="en-IN"/>
        </a:p>
      </dgm:t>
    </dgm:pt>
    <dgm:pt modelId="{A51D70D4-C33E-43B1-B123-1C692A8DCDF9}" type="sibTrans" cxnId="{58B37292-D1A9-4ACC-97BD-5F2AF8CA60A4}">
      <dgm:prSet/>
      <dgm:spPr/>
      <dgm:t>
        <a:bodyPr/>
        <a:lstStyle/>
        <a:p>
          <a:endParaRPr lang="en-IN"/>
        </a:p>
      </dgm:t>
    </dgm:pt>
    <dgm:pt modelId="{7FACE41D-F13D-49C2-A9EE-E06656ED3501}">
      <dgm:prSet/>
      <dgm:spPr/>
      <dgm:t>
        <a:bodyPr/>
        <a:lstStyle/>
        <a:p>
          <a:r>
            <a:rPr lang="en-IN"/>
            <a:t>Flow Prediction </a:t>
          </a:r>
        </a:p>
      </dgm:t>
    </dgm:pt>
    <dgm:pt modelId="{A70B16B0-980C-4E95-8EC2-6FB270BECC06}" type="parTrans" cxnId="{8D6680F2-7D2E-4E04-B03E-C8D9905C09F3}">
      <dgm:prSet/>
      <dgm:spPr/>
      <dgm:t>
        <a:bodyPr/>
        <a:lstStyle/>
        <a:p>
          <a:endParaRPr lang="en-IN"/>
        </a:p>
      </dgm:t>
    </dgm:pt>
    <dgm:pt modelId="{1CC4FBDF-5948-4978-9195-7E670A2CCB9D}" type="sibTrans" cxnId="{8D6680F2-7D2E-4E04-B03E-C8D9905C09F3}">
      <dgm:prSet/>
      <dgm:spPr/>
      <dgm:t>
        <a:bodyPr/>
        <a:lstStyle/>
        <a:p>
          <a:endParaRPr lang="en-IN"/>
        </a:p>
      </dgm:t>
    </dgm:pt>
    <dgm:pt modelId="{9F37CD2D-40FE-4010-9A6B-E5BECED4ABC4}" type="pres">
      <dgm:prSet presAssocID="{70B947C9-1D99-42D9-A471-9424077737A1}" presName="Name0" presStyleCnt="0">
        <dgm:presLayoutVars>
          <dgm:dir/>
          <dgm:resizeHandles val="exact"/>
        </dgm:presLayoutVars>
      </dgm:prSet>
      <dgm:spPr/>
    </dgm:pt>
    <dgm:pt modelId="{74147C92-E341-455E-8E8C-A440EDFCB2AA}" type="pres">
      <dgm:prSet presAssocID="{A58D3858-FCA9-44E6-9D3B-01692C0586C0}" presName="node" presStyleLbl="node1" presStyleIdx="0" presStyleCnt="4">
        <dgm:presLayoutVars>
          <dgm:bulletEnabled val="1"/>
        </dgm:presLayoutVars>
      </dgm:prSet>
      <dgm:spPr/>
    </dgm:pt>
    <dgm:pt modelId="{9AD19014-33D0-41EE-BBE1-B7B997B264E6}" type="pres">
      <dgm:prSet presAssocID="{E5D46B8A-7235-45C8-9CA5-310CEDC8430E}" presName="sibTrans" presStyleLbl="sibTrans2D1" presStyleIdx="0" presStyleCnt="3"/>
      <dgm:spPr/>
    </dgm:pt>
    <dgm:pt modelId="{C11219E2-9507-4EEC-A527-E6F31F5521E9}" type="pres">
      <dgm:prSet presAssocID="{E5D46B8A-7235-45C8-9CA5-310CEDC8430E}" presName="connectorText" presStyleLbl="sibTrans2D1" presStyleIdx="0" presStyleCnt="3"/>
      <dgm:spPr/>
    </dgm:pt>
    <dgm:pt modelId="{CE9BE584-ECCD-4F6B-A926-11F30BB7C403}" type="pres">
      <dgm:prSet presAssocID="{1C4962B2-4F83-4B63-B735-990FD9CECCF7}" presName="node" presStyleLbl="node1" presStyleIdx="1" presStyleCnt="4">
        <dgm:presLayoutVars>
          <dgm:bulletEnabled val="1"/>
        </dgm:presLayoutVars>
      </dgm:prSet>
      <dgm:spPr/>
    </dgm:pt>
    <dgm:pt modelId="{8D63AF69-1623-48F0-8065-2107C1D6A49C}" type="pres">
      <dgm:prSet presAssocID="{A6A08BA1-78A3-4522-A412-A06A9E8BDDA2}" presName="sibTrans" presStyleLbl="sibTrans2D1" presStyleIdx="1" presStyleCnt="3"/>
      <dgm:spPr/>
    </dgm:pt>
    <dgm:pt modelId="{6E062795-C494-42B7-9BC8-769F4F8AF658}" type="pres">
      <dgm:prSet presAssocID="{A6A08BA1-78A3-4522-A412-A06A9E8BDDA2}" presName="connectorText" presStyleLbl="sibTrans2D1" presStyleIdx="1" presStyleCnt="3"/>
      <dgm:spPr/>
    </dgm:pt>
    <dgm:pt modelId="{7BE5DE14-060E-4A67-A263-60A61A0AFE8E}" type="pres">
      <dgm:prSet presAssocID="{1768490B-512D-446A-A2A6-74E95EF6B6BA}" presName="node" presStyleLbl="node1" presStyleIdx="2" presStyleCnt="4" custScaleX="100857">
        <dgm:presLayoutVars>
          <dgm:bulletEnabled val="1"/>
        </dgm:presLayoutVars>
      </dgm:prSet>
      <dgm:spPr/>
    </dgm:pt>
    <dgm:pt modelId="{6C83D49F-D507-4271-BF12-5ED103740539}" type="pres">
      <dgm:prSet presAssocID="{A51D70D4-C33E-43B1-B123-1C692A8DCDF9}" presName="sibTrans" presStyleLbl="sibTrans2D1" presStyleIdx="2" presStyleCnt="3"/>
      <dgm:spPr/>
    </dgm:pt>
    <dgm:pt modelId="{B87652DF-E6FC-4E07-ACDB-9548CA6123DA}" type="pres">
      <dgm:prSet presAssocID="{A51D70D4-C33E-43B1-B123-1C692A8DCDF9}" presName="connectorText" presStyleLbl="sibTrans2D1" presStyleIdx="2" presStyleCnt="3"/>
      <dgm:spPr/>
    </dgm:pt>
    <dgm:pt modelId="{B421B7F1-7C41-4240-BEDC-22C7156E3083}" type="pres">
      <dgm:prSet presAssocID="{7FACE41D-F13D-49C2-A9EE-E06656ED3501}" presName="node" presStyleLbl="node1" presStyleIdx="3" presStyleCnt="4">
        <dgm:presLayoutVars>
          <dgm:bulletEnabled val="1"/>
        </dgm:presLayoutVars>
      </dgm:prSet>
      <dgm:spPr/>
    </dgm:pt>
  </dgm:ptLst>
  <dgm:cxnLst>
    <dgm:cxn modelId="{FB581701-0D8C-49AF-92A8-6E55D257C6B5}" type="presOf" srcId="{1768490B-512D-446A-A2A6-74E95EF6B6BA}" destId="{7BE5DE14-060E-4A67-A263-60A61A0AFE8E}" srcOrd="0" destOrd="0" presId="urn:microsoft.com/office/officeart/2005/8/layout/process1"/>
    <dgm:cxn modelId="{0FB7130C-06FB-44A4-9B41-A42E961981BF}" type="presOf" srcId="{A58D3858-FCA9-44E6-9D3B-01692C0586C0}" destId="{74147C92-E341-455E-8E8C-A440EDFCB2AA}" srcOrd="0" destOrd="0" presId="urn:microsoft.com/office/officeart/2005/8/layout/process1"/>
    <dgm:cxn modelId="{3AE8C21B-2AFC-47E9-86AA-5A408B4E0389}" type="presOf" srcId="{A51D70D4-C33E-43B1-B123-1C692A8DCDF9}" destId="{6C83D49F-D507-4271-BF12-5ED103740539}" srcOrd="0" destOrd="0" presId="urn:microsoft.com/office/officeart/2005/8/layout/process1"/>
    <dgm:cxn modelId="{CC51EF1C-F58F-4E98-BD7C-E1932D232423}" srcId="{70B947C9-1D99-42D9-A471-9424077737A1}" destId="{1C4962B2-4F83-4B63-B735-990FD9CECCF7}" srcOrd="1" destOrd="0" parTransId="{E2A68BFE-1C23-49D1-A476-07C86B8AFBF3}" sibTransId="{A6A08BA1-78A3-4522-A412-A06A9E8BDDA2}"/>
    <dgm:cxn modelId="{E2318932-8134-41F9-B2E4-2AAA44C72C78}" type="presOf" srcId="{70B947C9-1D99-42D9-A471-9424077737A1}" destId="{9F37CD2D-40FE-4010-9A6B-E5BECED4ABC4}" srcOrd="0" destOrd="0" presId="urn:microsoft.com/office/officeart/2005/8/layout/process1"/>
    <dgm:cxn modelId="{487A4C45-4D90-4477-B4F3-3F5094070B0B}" type="presOf" srcId="{E5D46B8A-7235-45C8-9CA5-310CEDC8430E}" destId="{9AD19014-33D0-41EE-BBE1-B7B997B264E6}" srcOrd="0" destOrd="0" presId="urn:microsoft.com/office/officeart/2005/8/layout/process1"/>
    <dgm:cxn modelId="{7053D775-FAF4-4F93-AF49-31616B50E0B2}" type="presOf" srcId="{A6A08BA1-78A3-4522-A412-A06A9E8BDDA2}" destId="{6E062795-C494-42B7-9BC8-769F4F8AF658}" srcOrd="1" destOrd="0" presId="urn:microsoft.com/office/officeart/2005/8/layout/process1"/>
    <dgm:cxn modelId="{CF9F2186-B050-40A1-86D4-E06300814655}" type="presOf" srcId="{7FACE41D-F13D-49C2-A9EE-E06656ED3501}" destId="{B421B7F1-7C41-4240-BEDC-22C7156E3083}" srcOrd="0" destOrd="0" presId="urn:microsoft.com/office/officeart/2005/8/layout/process1"/>
    <dgm:cxn modelId="{91E06989-751C-423F-946F-AD4CCB606A2D}" type="presOf" srcId="{A6A08BA1-78A3-4522-A412-A06A9E8BDDA2}" destId="{8D63AF69-1623-48F0-8065-2107C1D6A49C}" srcOrd="0" destOrd="0" presId="urn:microsoft.com/office/officeart/2005/8/layout/process1"/>
    <dgm:cxn modelId="{87978590-4084-4BA1-8BAB-A2CC0A551F54}" srcId="{70B947C9-1D99-42D9-A471-9424077737A1}" destId="{A58D3858-FCA9-44E6-9D3B-01692C0586C0}" srcOrd="0" destOrd="0" parTransId="{2479E375-F014-4376-BFE7-5BC6DB61EFF9}" sibTransId="{E5D46B8A-7235-45C8-9CA5-310CEDC8430E}"/>
    <dgm:cxn modelId="{58B37292-D1A9-4ACC-97BD-5F2AF8CA60A4}" srcId="{70B947C9-1D99-42D9-A471-9424077737A1}" destId="{1768490B-512D-446A-A2A6-74E95EF6B6BA}" srcOrd="2" destOrd="0" parTransId="{8E909A8E-9EDC-49B9-B29D-60AF75D5DEDA}" sibTransId="{A51D70D4-C33E-43B1-B123-1C692A8DCDF9}"/>
    <dgm:cxn modelId="{17CD5FD8-233A-408B-B3EE-5DBBF51C689C}" type="presOf" srcId="{1C4962B2-4F83-4B63-B735-990FD9CECCF7}" destId="{CE9BE584-ECCD-4F6B-A926-11F30BB7C403}" srcOrd="0" destOrd="0" presId="urn:microsoft.com/office/officeart/2005/8/layout/process1"/>
    <dgm:cxn modelId="{26C847DC-A7A9-4EBF-B5DB-9250C6F62D2F}" type="presOf" srcId="{A51D70D4-C33E-43B1-B123-1C692A8DCDF9}" destId="{B87652DF-E6FC-4E07-ACDB-9548CA6123DA}" srcOrd="1" destOrd="0" presId="urn:microsoft.com/office/officeart/2005/8/layout/process1"/>
    <dgm:cxn modelId="{8D6680F2-7D2E-4E04-B03E-C8D9905C09F3}" srcId="{70B947C9-1D99-42D9-A471-9424077737A1}" destId="{7FACE41D-F13D-49C2-A9EE-E06656ED3501}" srcOrd="3" destOrd="0" parTransId="{A70B16B0-980C-4E95-8EC2-6FB270BECC06}" sibTransId="{1CC4FBDF-5948-4978-9195-7E670A2CCB9D}"/>
    <dgm:cxn modelId="{56CDD4F8-DFAF-4E84-95F4-2FA00C356447}" type="presOf" srcId="{E5D46B8A-7235-45C8-9CA5-310CEDC8430E}" destId="{C11219E2-9507-4EEC-A527-E6F31F5521E9}" srcOrd="1" destOrd="0" presId="urn:microsoft.com/office/officeart/2005/8/layout/process1"/>
    <dgm:cxn modelId="{F51F3D5B-4E52-4522-AB76-CC9267E922E1}" type="presParOf" srcId="{9F37CD2D-40FE-4010-9A6B-E5BECED4ABC4}" destId="{74147C92-E341-455E-8E8C-A440EDFCB2AA}" srcOrd="0" destOrd="0" presId="urn:microsoft.com/office/officeart/2005/8/layout/process1"/>
    <dgm:cxn modelId="{F6B24A0C-77BE-4629-8FC9-31B5140B1EF6}" type="presParOf" srcId="{9F37CD2D-40FE-4010-9A6B-E5BECED4ABC4}" destId="{9AD19014-33D0-41EE-BBE1-B7B997B264E6}" srcOrd="1" destOrd="0" presId="urn:microsoft.com/office/officeart/2005/8/layout/process1"/>
    <dgm:cxn modelId="{5B4D5CC0-3FC0-4B1E-A867-118FEA5F6F69}" type="presParOf" srcId="{9AD19014-33D0-41EE-BBE1-B7B997B264E6}" destId="{C11219E2-9507-4EEC-A527-E6F31F5521E9}" srcOrd="0" destOrd="0" presId="urn:microsoft.com/office/officeart/2005/8/layout/process1"/>
    <dgm:cxn modelId="{67771D41-4277-460D-B4AD-7472C63B5147}" type="presParOf" srcId="{9F37CD2D-40FE-4010-9A6B-E5BECED4ABC4}" destId="{CE9BE584-ECCD-4F6B-A926-11F30BB7C403}" srcOrd="2" destOrd="0" presId="urn:microsoft.com/office/officeart/2005/8/layout/process1"/>
    <dgm:cxn modelId="{DA6E7B8A-5AA4-481A-927F-6A6C66492C0D}" type="presParOf" srcId="{9F37CD2D-40FE-4010-9A6B-E5BECED4ABC4}" destId="{8D63AF69-1623-48F0-8065-2107C1D6A49C}" srcOrd="3" destOrd="0" presId="urn:microsoft.com/office/officeart/2005/8/layout/process1"/>
    <dgm:cxn modelId="{E5E066EB-3916-4F81-A69C-915C198A3544}" type="presParOf" srcId="{8D63AF69-1623-48F0-8065-2107C1D6A49C}" destId="{6E062795-C494-42B7-9BC8-769F4F8AF658}" srcOrd="0" destOrd="0" presId="urn:microsoft.com/office/officeart/2005/8/layout/process1"/>
    <dgm:cxn modelId="{2E2F8507-FEA8-410E-A764-BD39B90A13B0}" type="presParOf" srcId="{9F37CD2D-40FE-4010-9A6B-E5BECED4ABC4}" destId="{7BE5DE14-060E-4A67-A263-60A61A0AFE8E}" srcOrd="4" destOrd="0" presId="urn:microsoft.com/office/officeart/2005/8/layout/process1"/>
    <dgm:cxn modelId="{101562CC-0BF4-412C-B1E5-B59D8B2B4CE4}" type="presParOf" srcId="{9F37CD2D-40FE-4010-9A6B-E5BECED4ABC4}" destId="{6C83D49F-D507-4271-BF12-5ED103740539}" srcOrd="5" destOrd="0" presId="urn:microsoft.com/office/officeart/2005/8/layout/process1"/>
    <dgm:cxn modelId="{9DFB1E16-7B2A-4A12-8964-8E91D376A53D}" type="presParOf" srcId="{6C83D49F-D507-4271-BF12-5ED103740539}" destId="{B87652DF-E6FC-4E07-ACDB-9548CA6123DA}" srcOrd="0" destOrd="0" presId="urn:microsoft.com/office/officeart/2005/8/layout/process1"/>
    <dgm:cxn modelId="{A455D9FB-25D7-48D0-B4F1-8EEB287F8DE0}" type="presParOf" srcId="{9F37CD2D-40FE-4010-9A6B-E5BECED4ABC4}" destId="{B421B7F1-7C41-4240-BEDC-22C7156E3083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147C92-E341-455E-8E8C-A440EDFCB2AA}">
      <dsp:nvSpPr>
        <dsp:cNvPr id="0" name=""/>
        <dsp:cNvSpPr/>
      </dsp:nvSpPr>
      <dsp:spPr>
        <a:xfrm>
          <a:off x="1691" y="548489"/>
          <a:ext cx="1288348" cy="7730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Stream speed </a:t>
          </a:r>
        </a:p>
      </dsp:txBody>
      <dsp:txXfrm>
        <a:off x="24332" y="571130"/>
        <a:ext cx="1243066" cy="727727"/>
      </dsp:txXfrm>
    </dsp:sp>
    <dsp:sp modelId="{9AD19014-33D0-41EE-BBE1-B7B997B264E6}">
      <dsp:nvSpPr>
        <dsp:cNvPr id="0" name=""/>
        <dsp:cNvSpPr/>
      </dsp:nvSpPr>
      <dsp:spPr>
        <a:xfrm>
          <a:off x="1418875" y="775239"/>
          <a:ext cx="273129" cy="3195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>
        <a:off x="1418875" y="839141"/>
        <a:ext cx="191190" cy="191706"/>
      </dsp:txXfrm>
    </dsp:sp>
    <dsp:sp modelId="{CE9BE584-ECCD-4F6B-A926-11F30BB7C403}">
      <dsp:nvSpPr>
        <dsp:cNvPr id="0" name=""/>
        <dsp:cNvSpPr/>
      </dsp:nvSpPr>
      <dsp:spPr>
        <a:xfrm>
          <a:off x="1805379" y="548489"/>
          <a:ext cx="1288348" cy="7730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Density </a:t>
          </a:r>
        </a:p>
      </dsp:txBody>
      <dsp:txXfrm>
        <a:off x="1828020" y="571130"/>
        <a:ext cx="1243066" cy="727727"/>
      </dsp:txXfrm>
    </dsp:sp>
    <dsp:sp modelId="{8D63AF69-1623-48F0-8065-2107C1D6A49C}">
      <dsp:nvSpPr>
        <dsp:cNvPr id="0" name=""/>
        <dsp:cNvSpPr/>
      </dsp:nvSpPr>
      <dsp:spPr>
        <a:xfrm>
          <a:off x="3222563" y="775239"/>
          <a:ext cx="273129" cy="3195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>
        <a:off x="3222563" y="839141"/>
        <a:ext cx="191190" cy="191706"/>
      </dsp:txXfrm>
    </dsp:sp>
    <dsp:sp modelId="{7BE5DE14-060E-4A67-A263-60A61A0AFE8E}">
      <dsp:nvSpPr>
        <dsp:cNvPr id="0" name=""/>
        <dsp:cNvSpPr/>
      </dsp:nvSpPr>
      <dsp:spPr>
        <a:xfrm>
          <a:off x="3609068" y="548489"/>
          <a:ext cx="1299389" cy="7730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Model training </a:t>
          </a:r>
        </a:p>
      </dsp:txBody>
      <dsp:txXfrm>
        <a:off x="3631709" y="571130"/>
        <a:ext cx="1254107" cy="727727"/>
      </dsp:txXfrm>
    </dsp:sp>
    <dsp:sp modelId="{6C83D49F-D507-4271-BF12-5ED103740539}">
      <dsp:nvSpPr>
        <dsp:cNvPr id="0" name=""/>
        <dsp:cNvSpPr/>
      </dsp:nvSpPr>
      <dsp:spPr>
        <a:xfrm>
          <a:off x="5037293" y="775239"/>
          <a:ext cx="273129" cy="3195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>
        <a:off x="5037293" y="839141"/>
        <a:ext cx="191190" cy="191706"/>
      </dsp:txXfrm>
    </dsp:sp>
    <dsp:sp modelId="{B421B7F1-7C41-4240-BEDC-22C7156E3083}">
      <dsp:nvSpPr>
        <dsp:cNvPr id="0" name=""/>
        <dsp:cNvSpPr/>
      </dsp:nvSpPr>
      <dsp:spPr>
        <a:xfrm>
          <a:off x="5423797" y="548489"/>
          <a:ext cx="1288348" cy="7730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Flow Prediction </a:t>
          </a:r>
        </a:p>
      </dsp:txBody>
      <dsp:txXfrm>
        <a:off x="5446438" y="571130"/>
        <a:ext cx="1243066" cy="7277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68DC72-0701-4922-B9D1-CBFB540736DA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433DB3-0243-45D5-87FD-27D2F51D2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364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33DB3-0243-45D5-87FD-27D2F51D200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247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52529" cy="736270"/>
          </a:xfrm>
          <a:prstGeom prst="rect">
            <a:avLst/>
          </a:prstGeom>
          <a:gradFill>
            <a:gsLst>
              <a:gs pos="1000">
                <a:srgbClr val="166018"/>
              </a:gs>
              <a:gs pos="52000">
                <a:srgbClr val="00B0F0"/>
              </a:gs>
              <a:gs pos="100000">
                <a:schemeClr val="tx2">
                  <a:lumMod val="75000"/>
                </a:schemeClr>
              </a:gs>
              <a:gs pos="100000">
                <a:srgbClr val="4D0808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prstClr val="white"/>
                </a:solidFill>
                <a:latin typeface="Franklin Gothic Demi" pitchFamily="34" charset="0"/>
              </a:rPr>
              <a:t>INDIAN INSTITUTE OF TECHNOLOGY ROORKEE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7895" y="-1281"/>
            <a:ext cx="755828" cy="732103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06150"/>
            <a:ext cx="9133727" cy="185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7814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64285" y="-1480"/>
            <a:ext cx="979715" cy="961360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0" y="990600"/>
            <a:ext cx="9144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756400"/>
            <a:ext cx="9144000" cy="0"/>
          </a:xfrm>
          <a:prstGeom prst="line">
            <a:avLst/>
          </a:prstGeom>
          <a:ln w="2222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97" y="6447291"/>
            <a:ext cx="16668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>
            <a:lum bright="3000"/>
          </a:blip>
          <a:stretch>
            <a:fillRect/>
          </a:stretch>
        </p:blipFill>
        <p:spPr>
          <a:xfrm>
            <a:off x="1873072" y="2118212"/>
            <a:ext cx="5321656" cy="3510576"/>
          </a:xfrm>
          <a:prstGeom prst="rect">
            <a:avLst/>
          </a:prstGeom>
        </p:spPr>
      </p:pic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80654" y="202990"/>
            <a:ext cx="7042080" cy="554587"/>
          </a:xfrm>
        </p:spPr>
        <p:txBody>
          <a:bodyPr/>
          <a:lstStyle>
            <a:lvl1pPr algn="l">
              <a:defRPr sz="32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180653" y="1173984"/>
            <a:ext cx="8768137" cy="5223272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656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lum bright="3000"/>
          </a:blip>
          <a:stretch>
            <a:fillRect/>
          </a:stretch>
        </p:blipFill>
        <p:spPr>
          <a:xfrm>
            <a:off x="1873072" y="2118212"/>
            <a:ext cx="5321656" cy="3510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654" y="202990"/>
            <a:ext cx="7042080" cy="554587"/>
          </a:xfrm>
        </p:spPr>
        <p:txBody>
          <a:bodyPr/>
          <a:lstStyle>
            <a:lvl1pPr algn="l">
              <a:defRPr sz="32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0654" y="1132413"/>
            <a:ext cx="4288604" cy="48063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0654" y="1613043"/>
            <a:ext cx="4288604" cy="47842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25166"/>
            <a:ext cx="4242121" cy="4878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13043"/>
            <a:ext cx="4242121" cy="47842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64285" y="-1480"/>
            <a:ext cx="979715" cy="961360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0" y="990600"/>
            <a:ext cx="9144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0" y="6756400"/>
            <a:ext cx="9144000" cy="0"/>
          </a:xfrm>
          <a:prstGeom prst="line">
            <a:avLst/>
          </a:prstGeom>
          <a:ln w="2222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97" y="6447291"/>
            <a:ext cx="16668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892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lum bright="3000"/>
          </a:blip>
          <a:stretch>
            <a:fillRect/>
          </a:stretch>
        </p:blipFill>
        <p:spPr>
          <a:xfrm>
            <a:off x="1873072" y="2118212"/>
            <a:ext cx="5321656" cy="35105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64285" y="-1480"/>
            <a:ext cx="979715" cy="961360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0" y="990600"/>
            <a:ext cx="9144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6756400"/>
            <a:ext cx="9144000" cy="0"/>
          </a:xfrm>
          <a:prstGeom prst="line">
            <a:avLst/>
          </a:prstGeom>
          <a:ln w="2222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97" y="6447291"/>
            <a:ext cx="16668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751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363913" y="2971801"/>
            <a:ext cx="2452687" cy="711200"/>
          </a:xfrm>
        </p:spPr>
        <p:txBody>
          <a:bodyPr anchor="t"/>
          <a:lstStyle>
            <a:lvl1pPr algn="ctr">
              <a:defRPr sz="3600" b="1" cap="none"/>
            </a:lvl1pPr>
          </a:lstStyle>
          <a:p>
            <a:r>
              <a:rPr lang="en-US"/>
              <a:t>Thanks…</a:t>
            </a:r>
            <a:endParaRPr lang="en-IN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595524" y="3619535"/>
            <a:ext cx="2009553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076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247F8E96-40AA-459E-91AA-55A5F97CAAA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11/3/2025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D4CB9294-F9FF-4346-BE48-1C04129C722B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162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701" r:id="rId3"/>
    <p:sldLayoutId id="2147483703" r:id="rId4"/>
    <p:sldLayoutId id="2147483708" r:id="rId5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/>
          <p:cNvSpPr>
            <a:spLocks noGrp="1"/>
          </p:cNvSpPr>
          <p:nvPr>
            <p:ph type="body" idx="4294967295"/>
          </p:nvPr>
        </p:nvSpPr>
        <p:spPr>
          <a:xfrm>
            <a:off x="1060190" y="3104453"/>
            <a:ext cx="7247166" cy="833066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IN"/>
              <a:t>Summer Internship</a:t>
            </a:r>
          </a:p>
          <a:p>
            <a:r>
              <a:rPr lang="en-IN" u="sng"/>
              <a:t>Estimation of Traffic Flow Using Google API</a:t>
            </a:r>
            <a:endParaRPr lang="en-IN"/>
          </a:p>
          <a:p>
            <a:r>
              <a:rPr lang="en-IN"/>
              <a:t>Prof Satish Chandra</a:t>
            </a:r>
            <a:endParaRPr lang="en-US"/>
          </a:p>
        </p:txBody>
      </p:sp>
      <p:sp>
        <p:nvSpPr>
          <p:cNvPr id="14" name="Text Placeholder 2"/>
          <p:cNvSpPr>
            <a:spLocks noGrp="1"/>
          </p:cNvSpPr>
          <p:nvPr>
            <p:ph type="body" idx="4294967295"/>
          </p:nvPr>
        </p:nvSpPr>
        <p:spPr>
          <a:xfrm>
            <a:off x="1134834" y="3872204"/>
            <a:ext cx="7247166" cy="1222310"/>
          </a:xfrm>
        </p:spPr>
        <p:txBody>
          <a:bodyPr anchor="b"/>
          <a:lstStyle>
            <a:lvl1pPr marL="0" indent="0" algn="ctr">
              <a:buNone/>
              <a:defRPr sz="18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IN" dirty="0"/>
              <a:t>Maddipati Sathvika</a:t>
            </a:r>
          </a:p>
          <a:p>
            <a:r>
              <a:rPr lang="en-IN" dirty="0"/>
              <a:t>22113083</a:t>
            </a:r>
          </a:p>
          <a:p>
            <a:pPr lvl="0"/>
            <a:endParaRPr lang="en-US" dirty="0"/>
          </a:p>
        </p:txBody>
      </p:sp>
      <p:pic>
        <p:nvPicPr>
          <p:cNvPr id="3" name="Picture 2" descr="A circular logo with text and symbols&#10;&#10;AI-generated content may be incorrect.">
            <a:extLst>
              <a:ext uri="{FF2B5EF4-FFF2-40B4-BE49-F238E27FC236}">
                <a16:creationId xmlns:a16="http://schemas.microsoft.com/office/drawing/2014/main" id="{C16C8D91-3F21-9048-80CE-F7560D3CE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509" y="938442"/>
            <a:ext cx="1728982" cy="172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77207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 of the idea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78D6F2B-90EC-C9D5-9335-47C166377BA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80654" y="1296972"/>
            <a:ext cx="8402907" cy="464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000" dirty="0"/>
              <a:t>Traffic performance measures—</a:t>
            </a:r>
            <a:r>
              <a:rPr lang="en-US" sz="2000" b="1" dirty="0"/>
              <a:t>speed, density, and flow</a:t>
            </a:r>
            <a:r>
              <a:rPr lang="en-US" sz="2000" dirty="0"/>
              <a:t>—form the basis of congestion assessment, road capacity planning, and operational control.</a:t>
            </a:r>
          </a:p>
          <a:p>
            <a:pPr algn="just"/>
            <a:r>
              <a:rPr lang="en-US" sz="2000" dirty="0"/>
              <a:t>Traditional survey methods like </a:t>
            </a:r>
            <a:r>
              <a:rPr lang="en-US" sz="2000" b="1" dirty="0"/>
              <a:t>manual counts, road-side cameras, and sensors</a:t>
            </a:r>
            <a:r>
              <a:rPr lang="en-US" sz="2000" dirty="0"/>
              <a:t> are reliable but </a:t>
            </a:r>
            <a:r>
              <a:rPr lang="en-US" sz="2000" b="1" dirty="0"/>
              <a:t>resource-intensive and difficult to scale</a:t>
            </a:r>
            <a:r>
              <a:rPr lang="en-US" sz="2000" dirty="0"/>
              <a:t>.</a:t>
            </a:r>
          </a:p>
          <a:p>
            <a:pPr algn="just"/>
            <a:r>
              <a:rPr lang="en-US" sz="2000" dirty="0"/>
              <a:t>This internship explores </a:t>
            </a:r>
            <a:r>
              <a:rPr lang="en-US" sz="2000" b="1" dirty="0"/>
              <a:t>digital mobility data</a:t>
            </a:r>
            <a:r>
              <a:rPr lang="en-US" sz="2000" dirty="0"/>
              <a:t> coupled with </a:t>
            </a:r>
            <a:r>
              <a:rPr lang="en-US" sz="2000" b="1" dirty="0"/>
              <a:t>computer vision-based vehicle detection</a:t>
            </a:r>
            <a:r>
              <a:rPr lang="en-US" sz="2000" dirty="0"/>
              <a:t> to build a scalable, low-cost approach for traffic monitoring.</a:t>
            </a:r>
          </a:p>
          <a:p>
            <a:pPr algn="just"/>
            <a:r>
              <a:rPr lang="en-US" sz="2000" b="1" dirty="0"/>
              <a:t>Research Problem</a:t>
            </a:r>
            <a:r>
              <a:rPr lang="en-US" sz="2000" dirty="0"/>
              <a:t> - How can traffic flow be estimated in real time using digital speed streams and field-verified vehicle counts, without depending on physical sensing infrastructure?</a:t>
            </a:r>
            <a:endParaRPr lang="en-IN" sz="2000" dirty="0"/>
          </a:p>
          <a:p>
            <a:pPr algn="just"/>
            <a:endParaRPr lang="en-US" sz="2000" dirty="0"/>
          </a:p>
          <a:p>
            <a:pPr eaLnBrk="0" hangingPunct="0">
              <a:spcBef>
                <a:spcPct val="0"/>
              </a:spcBef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76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9BEE7-484B-828C-2E4C-C9379DE98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B7309-8F0B-4E31-0022-7D725005FE8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1800" dirty="0"/>
              <a:t>To </a:t>
            </a:r>
            <a:r>
              <a:rPr lang="en-US" sz="1800" b="1" dirty="0"/>
              <a:t>estimate traffic flow</a:t>
            </a:r>
            <a:r>
              <a:rPr lang="en-US" sz="1800" dirty="0"/>
              <a:t> using real-time stream speed data from the Google Distance Matrix API.</a:t>
            </a:r>
          </a:p>
          <a:p>
            <a:r>
              <a:rPr lang="en-US" sz="1800" dirty="0"/>
              <a:t>To </a:t>
            </a:r>
            <a:r>
              <a:rPr lang="en-US" sz="1800" b="1" dirty="0"/>
              <a:t>predict the number of vehicle</a:t>
            </a:r>
            <a:r>
              <a:rPr lang="en-US" sz="1800" dirty="0"/>
              <a:t> present on a road segment at any given time.</a:t>
            </a:r>
          </a:p>
          <a:p>
            <a:r>
              <a:rPr lang="en-US" sz="1800" dirty="0"/>
              <a:t>To </a:t>
            </a:r>
            <a:r>
              <a:rPr lang="en-US" sz="1800" b="1" dirty="0"/>
              <a:t>reduce the dependency on physical infrastructure</a:t>
            </a:r>
            <a:r>
              <a:rPr lang="en-US" sz="1800" dirty="0"/>
              <a:t> like sensors and manual surveys.</a:t>
            </a:r>
          </a:p>
          <a:p>
            <a:r>
              <a:rPr lang="en-US" sz="1800" dirty="0"/>
              <a:t>To develop a </a:t>
            </a:r>
            <a:r>
              <a:rPr lang="en-US" sz="1800" b="1" dirty="0"/>
              <a:t>cost-effective, scalable, and practical solution</a:t>
            </a:r>
            <a:r>
              <a:rPr lang="en-US" sz="1800" dirty="0"/>
              <a:t> for traffic monitoring and management.</a:t>
            </a:r>
          </a:p>
          <a:p>
            <a:r>
              <a:rPr lang="en-US" sz="1800" dirty="0"/>
              <a:t>To improve the </a:t>
            </a:r>
            <a:r>
              <a:rPr lang="en-US" sz="1800" b="1" dirty="0"/>
              <a:t>accuracy of traffic flow estimation</a:t>
            </a:r>
            <a:r>
              <a:rPr lang="en-US" sz="1800" dirty="0"/>
              <a:t> while keeping the model simple and efficient.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0630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96E8B-026B-47D0-A9AB-EF3072DEB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Training Dataset </a:t>
            </a:r>
          </a:p>
        </p:txBody>
      </p:sp>
      <p:pic>
        <p:nvPicPr>
          <p:cNvPr id="5" name="Content Placeholder 4" descr="A screenshot of a table&#10;&#10;AI-generated content may be incorrect.">
            <a:extLst>
              <a:ext uri="{FF2B5EF4-FFF2-40B4-BE49-F238E27FC236}">
                <a16:creationId xmlns:a16="http://schemas.microsoft.com/office/drawing/2014/main" id="{2FC0EDB1-FB2C-36C4-109F-B401E2FE718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023" y="4429728"/>
            <a:ext cx="7097904" cy="1614590"/>
          </a:xfr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A506DB8D-B43B-A1C4-5F69-9DC0BF277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654" y="1409001"/>
            <a:ext cx="888714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dataset was collected from four different locations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capture variability in traffic conditions and ensure that the model learns from diverse scenarios.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vehicles were categorized into three types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two-wheelers such as bikes and scooters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Medium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cars, vans, and three-wheelers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heavy vehicles such as buses and trucks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 descr="A graph of a vehicle composition&#10;&#10;AI-generated content may be incorrect.">
            <a:extLst>
              <a:ext uri="{FF2B5EF4-FFF2-40B4-BE49-F238E27FC236}">
                <a16:creationId xmlns:a16="http://schemas.microsoft.com/office/drawing/2014/main" id="{B58ECC0D-E755-971D-69AD-1494EA2B7F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0025" y="2099128"/>
            <a:ext cx="2871019" cy="2145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083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650F8-9D3B-5494-0726-8126A1FE4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Testing Dataset – Collection</a:t>
            </a:r>
            <a:endParaRPr lang="en-IN" sz="2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5BF295-52C9-43AC-9FD0-0892BF683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0653" y="1132413"/>
            <a:ext cx="8157101" cy="480630"/>
          </a:xfrm>
        </p:spPr>
        <p:txBody>
          <a:bodyPr/>
          <a:lstStyle/>
          <a:p>
            <a:r>
              <a:rPr lang="en-US" sz="2000" u="sng" dirty="0"/>
              <a:t>Data Acquisition Pipeline</a:t>
            </a:r>
            <a:endParaRPr lang="en-IN" sz="2000" u="sn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AC34F6-56BB-A8D7-1610-62C72792301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07947814"/>
              </p:ext>
            </p:extLst>
          </p:nvPr>
        </p:nvGraphicFramePr>
        <p:xfrm>
          <a:off x="491613" y="1818969"/>
          <a:ext cx="7561006" cy="2035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0503">
                  <a:extLst>
                    <a:ext uri="{9D8B030D-6E8A-4147-A177-3AD203B41FA5}">
                      <a16:colId xmlns:a16="http://schemas.microsoft.com/office/drawing/2014/main" val="4150064368"/>
                    </a:ext>
                  </a:extLst>
                </a:gridCol>
                <a:gridCol w="3780503">
                  <a:extLst>
                    <a:ext uri="{9D8B030D-6E8A-4147-A177-3AD203B41FA5}">
                      <a16:colId xmlns:a16="http://schemas.microsoft.com/office/drawing/2014/main" val="2733779791"/>
                    </a:ext>
                  </a:extLst>
                </a:gridCol>
              </a:tblGrid>
              <a:tr h="407055">
                <a:tc>
                  <a:txBody>
                    <a:bodyPr/>
                    <a:lstStyle/>
                    <a:p>
                      <a:r>
                        <a:rPr lang="en-US" dirty="0"/>
                        <a:t>Component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652227"/>
                  </a:ext>
                </a:extLst>
              </a:tr>
              <a:tr h="407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Google mobility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Extract real-time stream speed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0805232"/>
                  </a:ext>
                </a:extLst>
              </a:tr>
              <a:tr h="407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Field video recordings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Generate ground-truth vehicle counts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7564575"/>
                  </a:ext>
                </a:extLst>
              </a:tr>
              <a:tr h="407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YOLO-based object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Classify vehicles from video frames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7142535"/>
                  </a:ext>
                </a:extLst>
              </a:tr>
              <a:tr h="407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ML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Predict traffic density &amp; flow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718342"/>
                  </a:ext>
                </a:extLst>
              </a:tr>
            </a:tbl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934EA8-955A-79AF-21F4-48B3F04C64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80655" y="4041057"/>
            <a:ext cx="8706492" cy="658761"/>
          </a:xfrm>
        </p:spPr>
        <p:txBody>
          <a:bodyPr/>
          <a:lstStyle/>
          <a:p>
            <a:r>
              <a:rPr lang="en-US" sz="2000" u="sng" dirty="0"/>
              <a:t>API Based Speed Collection</a:t>
            </a:r>
            <a:endParaRPr lang="en-IN" sz="2000" u="sng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E1A6407-EB9E-5480-0DFF-D8D227E9A228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491613" y="4849430"/>
            <a:ext cx="784614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speeds queried at ~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5-minute intervals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hangingPunct="0"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parameters included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origins, destinations, mode, departure time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hangingPunct="0"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Extracted travel time → converted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stream speed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550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FE3EA-3117-9ECD-5CBF-BE780E0AF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Testing dataset – Collection </a:t>
            </a:r>
          </a:p>
        </p:txBody>
      </p:sp>
      <p:pic>
        <p:nvPicPr>
          <p:cNvPr id="5" name="Content Placeholder 4" descr="A graph showing a green line&#10;&#10;AI-generated content may be incorrect.">
            <a:extLst>
              <a:ext uri="{FF2B5EF4-FFF2-40B4-BE49-F238E27FC236}">
                <a16:creationId xmlns:a16="http://schemas.microsoft.com/office/drawing/2014/main" id="{9FA9F951-026C-6B06-00AE-EC5B3C8C710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899" y="2060576"/>
            <a:ext cx="5850202" cy="3510122"/>
          </a:xfrm>
        </p:spPr>
      </p:pic>
    </p:spTree>
    <p:extLst>
      <p:ext uri="{BB962C8B-B14F-4D97-AF65-F5344CB8AC3E}">
        <p14:creationId xmlns:p14="http://schemas.microsoft.com/office/powerpoint/2010/main" val="2455332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2019F-EC00-DB4C-0612-DE8D47FAA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Testing Dataset – Collection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472515-C415-0485-C4F5-E321920CA298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83458" y="1252286"/>
            <a:ext cx="2831690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Field Video Capture</a:t>
            </a:r>
          </a:p>
          <a:p>
            <a:pPr eaLnBrk="0" hangingPunct="0">
              <a:spcBef>
                <a:spcPct val="0"/>
              </a:spcBef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camera on a tripod on a railing overlooking a road">
            <a:extLst>
              <a:ext uri="{FF2B5EF4-FFF2-40B4-BE49-F238E27FC236}">
                <a16:creationId xmlns:a16="http://schemas.microsoft.com/office/drawing/2014/main" id="{48EB66A9-5E81-B077-E065-807EAF69B76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917" y="3262608"/>
            <a:ext cx="3314700" cy="2680293"/>
          </a:xfrm>
          <a:prstGeom prst="rect">
            <a:avLst/>
          </a:prstGeom>
        </p:spPr>
      </p:pic>
      <p:pic>
        <p:nvPicPr>
          <p:cNvPr id="8" name="Picture 7" descr="A road with cars and trees&#10;&#10;AI-generated content may be incorrect.">
            <a:extLst>
              <a:ext uri="{FF2B5EF4-FFF2-40B4-BE49-F238E27FC236}">
                <a16:creationId xmlns:a16="http://schemas.microsoft.com/office/drawing/2014/main" id="{36466F1A-B484-66B3-817B-10DA411D55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384" y="3262608"/>
            <a:ext cx="3519391" cy="26802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65E15CD-A689-CD16-22EB-EC9992C266DB}"/>
              </a:ext>
            </a:extLst>
          </p:cNvPr>
          <p:cNvSpPr txBox="1"/>
          <p:nvPr/>
        </p:nvSpPr>
        <p:spPr>
          <a:xfrm>
            <a:off x="1019754" y="6035234"/>
            <a:ext cx="29990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i="1"/>
              <a:t>Camera setup for video recording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E70ABD-5EAE-EBE3-102D-78B856FED385}"/>
              </a:ext>
            </a:extLst>
          </p:cNvPr>
          <p:cNvSpPr txBox="1"/>
          <p:nvPr/>
        </p:nvSpPr>
        <p:spPr>
          <a:xfrm>
            <a:off x="5193229" y="5942901"/>
            <a:ext cx="30676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i="1"/>
              <a:t>Defined trap region on the roadway for </a:t>
            </a:r>
          </a:p>
          <a:p>
            <a:pPr algn="ctr"/>
            <a:r>
              <a:rPr lang="en-IN" sz="1400" i="1"/>
              <a:t>vehicle detection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AE68DDE-3B58-69B2-4AE6-FF1435184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135" y="1700463"/>
            <a:ext cx="820163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Foot-over-bridge vantage for clear view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Road section (“trap”) length: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40m × 7m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Footage synchronized with speed extracts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complete vehicular visibility &amp; frame alignment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790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90079-EE5D-3AA2-1643-F24366842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54" y="202990"/>
            <a:ext cx="7042080" cy="554587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/>
              <a:t>Testing dataset – Extraction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8FD9C98-06F9-CBCF-8F6B-6905AD8A6248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80653" y="1173984"/>
            <a:ext cx="4934272" cy="5223272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The recorded video was processed using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</a:rPr>
              <a:t>YOLOv8s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, an object detection model optimized for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</a:rPr>
              <a:t>real-time detection and classification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 of vehicles.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YOLOv8s divided each frame into grids, predicted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</a:rPr>
              <a:t>bounding boxes and class probabilities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, and identified vehicles such as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</a:rPr>
              <a:t>cars, bikes, buses, and trucks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The extracted vehicle counts were grouped into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</a:rPr>
              <a:t>small, medium, and large categories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, serving as the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</a:rPr>
              <a:t>ground truth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 for validating the model’s predictions.</a:t>
            </a:r>
          </a:p>
        </p:txBody>
      </p:sp>
      <p:pic>
        <p:nvPicPr>
          <p:cNvPr id="6" name="Picture 5" descr="A diagram of a vehicle category&#10;&#10;AI-generated content may be incorrect.">
            <a:extLst>
              <a:ext uri="{FF2B5EF4-FFF2-40B4-BE49-F238E27FC236}">
                <a16:creationId xmlns:a16="http://schemas.microsoft.com/office/drawing/2014/main" id="{CE602BCD-9A96-4105-052F-332CE720EC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57" r="7432" b="-1"/>
          <a:stretch>
            <a:fillRect/>
          </a:stretch>
        </p:blipFill>
        <p:spPr>
          <a:xfrm>
            <a:off x="5114925" y="1525204"/>
            <a:ext cx="3547294" cy="39516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85869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DAD8C-03B4-5690-2A46-1F56E7379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Modelling 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33B4B3E-AA28-381C-9988-2AEA880C7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452" y="896785"/>
            <a:ext cx="7698658" cy="3152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  <a:p>
            <a:r>
              <a:rPr lang="en-US" b="1" dirty="0"/>
              <a:t>Machine Learning Models</a:t>
            </a:r>
          </a:p>
          <a:p>
            <a:endParaRPr lang="en-US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K-Nearest Neighbors (KNN)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Random Forest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Gradient Boosting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 Vector Regression (SVR)</a:t>
            </a:r>
          </a:p>
          <a:p>
            <a:endParaRPr lang="en-US" dirty="0"/>
          </a:p>
          <a:p>
            <a:r>
              <a:rPr lang="en-US" b="1" dirty="0"/>
              <a:t>Why these models?</a:t>
            </a:r>
            <a:br>
              <a:rPr lang="en-US" dirty="0"/>
            </a:br>
            <a:r>
              <a:rPr lang="en-US" dirty="0"/>
              <a:t>To balance </a:t>
            </a:r>
            <a:r>
              <a:rPr lang="en-US" b="1" dirty="0"/>
              <a:t>non-linear learning</a:t>
            </a:r>
            <a:r>
              <a:rPr lang="en-US" dirty="0"/>
              <a:t>, robustness to noise, and interpretability.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30"/>
              </a:spcBef>
              <a:spcAft>
                <a:spcPts val="13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350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5B0DB-E466-B15B-5009-2DA751225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Results </a:t>
            </a:r>
          </a:p>
        </p:txBody>
      </p:sp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0F78BD3F-7E30-8AD7-AB0A-3209357470A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98521241"/>
              </p:ext>
            </p:extLst>
          </p:nvPr>
        </p:nvGraphicFramePr>
        <p:xfrm>
          <a:off x="180654" y="1450975"/>
          <a:ext cx="863949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821">
                  <a:extLst>
                    <a:ext uri="{9D8B030D-6E8A-4147-A177-3AD203B41FA5}">
                      <a16:colId xmlns:a16="http://schemas.microsoft.com/office/drawing/2014/main" val="2438517463"/>
                    </a:ext>
                  </a:extLst>
                </a:gridCol>
                <a:gridCol w="1609725">
                  <a:extLst>
                    <a:ext uri="{9D8B030D-6E8A-4147-A177-3AD203B41FA5}">
                      <a16:colId xmlns:a16="http://schemas.microsoft.com/office/drawing/2014/main" val="3759059380"/>
                    </a:ext>
                  </a:extLst>
                </a:gridCol>
                <a:gridCol w="1609725">
                  <a:extLst>
                    <a:ext uri="{9D8B030D-6E8A-4147-A177-3AD203B41FA5}">
                      <a16:colId xmlns:a16="http://schemas.microsoft.com/office/drawing/2014/main" val="1408405080"/>
                    </a:ext>
                  </a:extLst>
                </a:gridCol>
                <a:gridCol w="1818101">
                  <a:extLst>
                    <a:ext uri="{9D8B030D-6E8A-4147-A177-3AD203B41FA5}">
                      <a16:colId xmlns:a16="http://schemas.microsoft.com/office/drawing/2014/main" val="486498728"/>
                    </a:ext>
                  </a:extLst>
                </a:gridCol>
                <a:gridCol w="1887124">
                  <a:extLst>
                    <a:ext uri="{9D8B030D-6E8A-4147-A177-3AD203B41FA5}">
                      <a16:colId xmlns:a16="http://schemas.microsoft.com/office/drawing/2014/main" val="14658427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Medium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Large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Combined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41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r>
                        <a:rPr lang="en-IN"/>
                        <a:t>20.055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15.586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5.550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15.010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305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Gradient Boosting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r>
                        <a:rPr lang="en-IN"/>
                        <a:t>20.548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16.323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6.304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15.582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494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r>
                        <a:rPr lang="en-IN"/>
                        <a:t>21.048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16.071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6.111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15.691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2647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SVR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r>
                        <a:rPr lang="en-IN"/>
                        <a:t>22.956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19.135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4.950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17.489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202187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E17F514-7D56-F7C0-79B3-15F8097CC295}"/>
              </a:ext>
            </a:extLst>
          </p:cNvPr>
          <p:cNvSpPr txBox="1"/>
          <p:nvPr/>
        </p:nvSpPr>
        <p:spPr>
          <a:xfrm>
            <a:off x="195586" y="1081643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/>
              <a:t>1. RMSE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69086C-517B-2556-BBE9-5D9E70871175}"/>
              </a:ext>
            </a:extLst>
          </p:cNvPr>
          <p:cNvSpPr txBox="1"/>
          <p:nvPr/>
        </p:nvSpPr>
        <p:spPr>
          <a:xfrm>
            <a:off x="180654" y="3674507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2</a:t>
            </a:r>
            <a:r>
              <a:rPr lang="en-IN" b="1"/>
              <a:t>. MAE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2F96E1D-8AFD-D8EE-4915-A467AA2D1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812653"/>
              </p:ext>
            </p:extLst>
          </p:nvPr>
        </p:nvGraphicFramePr>
        <p:xfrm>
          <a:off x="195586" y="4066064"/>
          <a:ext cx="786256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641">
                  <a:extLst>
                    <a:ext uri="{9D8B030D-6E8A-4147-A177-3AD203B41FA5}">
                      <a16:colId xmlns:a16="http://schemas.microsoft.com/office/drawing/2014/main" val="3051171594"/>
                    </a:ext>
                  </a:extLst>
                </a:gridCol>
                <a:gridCol w="1965641">
                  <a:extLst>
                    <a:ext uri="{9D8B030D-6E8A-4147-A177-3AD203B41FA5}">
                      <a16:colId xmlns:a16="http://schemas.microsoft.com/office/drawing/2014/main" val="688440107"/>
                    </a:ext>
                  </a:extLst>
                </a:gridCol>
                <a:gridCol w="1965641">
                  <a:extLst>
                    <a:ext uri="{9D8B030D-6E8A-4147-A177-3AD203B41FA5}">
                      <a16:colId xmlns:a16="http://schemas.microsoft.com/office/drawing/2014/main" val="3825258203"/>
                    </a:ext>
                  </a:extLst>
                </a:gridCol>
                <a:gridCol w="1965641">
                  <a:extLst>
                    <a:ext uri="{9D8B030D-6E8A-4147-A177-3AD203B41FA5}">
                      <a16:colId xmlns:a16="http://schemas.microsoft.com/office/drawing/2014/main" val="929778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Model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Large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278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17.914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11.722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4.111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272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18.622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12.960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4.940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114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Random Forest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18.652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13.212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4.819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763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SVR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22.370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15.256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3.771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390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367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85D05-0417-1E3F-9256-CDB35F087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2C0BE-6579-C68C-A6DC-0BFD229BEC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1800" b="1"/>
              <a:t>KNN achieved the lowest combined SE</a:t>
            </a:r>
            <a:r>
              <a:rPr lang="en-US" sz="1800"/>
              <a:t>, making it the best overall model.</a:t>
            </a:r>
          </a:p>
          <a:p>
            <a:r>
              <a:rPr lang="en-US" sz="1800" b="1"/>
              <a:t>Random Forest produced the best results for small vehicles</a:t>
            </a:r>
            <a:r>
              <a:rPr lang="en-US" sz="1800"/>
              <a:t>, showing strong stability in high-variability flows.</a:t>
            </a:r>
          </a:p>
          <a:p>
            <a:r>
              <a:rPr lang="en-US" sz="1800" b="1"/>
              <a:t>KNN performed best for medium and large vehicles</a:t>
            </a:r>
            <a:r>
              <a:rPr lang="en-US" sz="1800"/>
              <a:t>, capturing local traffic patterns effectively.</a:t>
            </a:r>
          </a:p>
          <a:p>
            <a:r>
              <a:rPr lang="en-US" sz="1800" b="1"/>
              <a:t>SVR achieved the lowest error for large vehicles</a:t>
            </a:r>
            <a:r>
              <a:rPr lang="en-US" sz="1800"/>
              <a:t> but was weaker for small and medium categories.</a:t>
            </a:r>
          </a:p>
        </p:txBody>
      </p:sp>
    </p:spTree>
    <p:extLst>
      <p:ext uri="{BB962C8B-B14F-4D97-AF65-F5344CB8AC3E}">
        <p14:creationId xmlns:p14="http://schemas.microsoft.com/office/powerpoint/2010/main" val="4082095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6D505-7CB4-ADAE-58B6-70B7D5438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416" y="270523"/>
            <a:ext cx="7042080" cy="554587"/>
          </a:xfrm>
        </p:spPr>
        <p:txBody>
          <a:bodyPr/>
          <a:lstStyle/>
          <a:p>
            <a:r>
              <a:rPr lang="en-IN"/>
              <a:t>Modelling – Density and Flow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96EFC87-4029-7BC9-48BF-A4C375F779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724562"/>
              </p:ext>
            </p:extLst>
          </p:nvPr>
        </p:nvGraphicFramePr>
        <p:xfrm>
          <a:off x="1215081" y="4275437"/>
          <a:ext cx="6713838" cy="18699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A9976155-6EBB-0F8C-2263-D36902643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416" y="1564786"/>
            <a:ext cx="8732687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30"/>
              </a:spcBef>
              <a:spcAft>
                <a:spcPts val="13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Traffic flow can be estimated using the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transport equation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30"/>
              </a:spcBef>
              <a:spcAft>
                <a:spcPts val="13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30"/>
              </a:spcBef>
              <a:spcAft>
                <a:spcPts val="13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Flow (Q)=Density (k)×Velocity (v)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30"/>
              </a:spcBef>
              <a:spcAft>
                <a:spcPts val="13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130"/>
              </a:spcBef>
              <a:spcAft>
                <a:spcPts val="13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Velocity (v):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Average speed of vehicles in the traffic stream.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130"/>
              </a:spcBef>
              <a:spcAft>
                <a:spcPts val="13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Density (k):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Number of vehicles per unit length of roadway (vehicle/km/lane).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30"/>
              </a:spcBef>
              <a:spcAft>
                <a:spcPts val="13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Once density is determined, flow can be directly estimated using observed or predicted velocity values.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1851C9-6F62-C82D-CFF5-6BD28ACEBC7D}"/>
              </a:ext>
            </a:extLst>
          </p:cNvPr>
          <p:cNvSpPr/>
          <p:nvPr/>
        </p:nvSpPr>
        <p:spPr>
          <a:xfrm>
            <a:off x="2606986" y="2161153"/>
            <a:ext cx="3785577" cy="4384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13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9E34B-71D3-299F-4DF7-2D3F72166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Density Calculation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E1861D-4819-4B74-1FA8-B4FFBB6E768F}"/>
              </a:ext>
            </a:extLst>
          </p:cNvPr>
          <p:cNvSpPr txBox="1"/>
          <p:nvPr/>
        </p:nvSpPr>
        <p:spPr>
          <a:xfrm>
            <a:off x="694944" y="1396181"/>
            <a:ext cx="7132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latin typeface="Arial" panose="020B0604020202020204" pitchFamily="34" charset="0"/>
              </a:rPr>
              <a:t>Since no single model performs well across all velocities, a </a:t>
            </a:r>
            <a:r>
              <a:rPr lang="en-US" altLang="en-US" b="1" dirty="0">
                <a:latin typeface="Arial" panose="020B0604020202020204" pitchFamily="34" charset="0"/>
              </a:rPr>
              <a:t>hybrid model</a:t>
            </a:r>
            <a:r>
              <a:rPr lang="en-US" altLang="en-US" dirty="0">
                <a:latin typeface="Arial" panose="020B0604020202020204" pitchFamily="34" charset="0"/>
              </a:rPr>
              <a:t> combining the three is used for better accuracy.</a:t>
            </a:r>
            <a:endParaRPr lang="en-IN" dirty="0"/>
          </a:p>
        </p:txBody>
      </p:sp>
      <p:pic>
        <p:nvPicPr>
          <p:cNvPr id="9" name="Picture 8" descr="A diagram of different colored lines&#10;&#10;AI-generated content may be incorrect.">
            <a:extLst>
              <a:ext uri="{FF2B5EF4-FFF2-40B4-BE49-F238E27FC236}">
                <a16:creationId xmlns:a16="http://schemas.microsoft.com/office/drawing/2014/main" id="{E7E0DE13-6955-DEDA-9908-51BCC832F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249" y="2681116"/>
            <a:ext cx="6266687" cy="292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533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AA1B2-E066-2825-2165-5A7D333B4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A3258-0F1C-8A78-B1F8-44160DB2572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000" b="1" u="sng" dirty="0">
                <a:latin typeface="+mj-lt"/>
              </a:rPr>
              <a:t>Speed- Regime Based Density Allocation</a:t>
            </a:r>
          </a:p>
          <a:p>
            <a:pPr marL="0" indent="0">
              <a:buNone/>
            </a:pPr>
            <a:endParaRPr lang="en-IN" sz="2000" b="1" u="sng" dirty="0">
              <a:latin typeface="+mj-lt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045E94-A36C-B7D1-00B2-1430E8E71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232305"/>
              </p:ext>
            </p:extLst>
          </p:nvPr>
        </p:nvGraphicFramePr>
        <p:xfrm>
          <a:off x="560439" y="1670304"/>
          <a:ext cx="7875639" cy="1883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277">
                  <a:extLst>
                    <a:ext uri="{9D8B030D-6E8A-4147-A177-3AD203B41FA5}">
                      <a16:colId xmlns:a16="http://schemas.microsoft.com/office/drawing/2014/main" val="441152991"/>
                    </a:ext>
                  </a:extLst>
                </a:gridCol>
                <a:gridCol w="2123768">
                  <a:extLst>
                    <a:ext uri="{9D8B030D-6E8A-4147-A177-3AD203B41FA5}">
                      <a16:colId xmlns:a16="http://schemas.microsoft.com/office/drawing/2014/main" val="3189964055"/>
                    </a:ext>
                  </a:extLst>
                </a:gridCol>
                <a:gridCol w="3716594">
                  <a:extLst>
                    <a:ext uri="{9D8B030D-6E8A-4147-A177-3AD203B41FA5}">
                      <a16:colId xmlns:a16="http://schemas.microsoft.com/office/drawing/2014/main" val="1504034704"/>
                    </a:ext>
                  </a:extLst>
                </a:gridCol>
              </a:tblGrid>
              <a:tr h="470941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Speed Range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Condition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457029"/>
                  </a:ext>
                </a:extLst>
              </a:tr>
              <a:tr h="470941">
                <a:tc>
                  <a:txBody>
                    <a:bodyPr/>
                    <a:lstStyle/>
                    <a:p>
                      <a:r>
                        <a:rPr lang="en-US" dirty="0"/>
                        <a:t>Underwood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56-80 km/h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Free-flow, higher speeds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890722"/>
                  </a:ext>
                </a:extLst>
              </a:tr>
              <a:tr h="470941">
                <a:tc>
                  <a:txBody>
                    <a:bodyPr/>
                    <a:lstStyle/>
                    <a:p>
                      <a:r>
                        <a:rPr lang="en-US" dirty="0"/>
                        <a:t>Greenshields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24-56 km/h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Mid – Density Regime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4110388"/>
                  </a:ext>
                </a:extLst>
              </a:tr>
              <a:tr h="470941">
                <a:tc>
                  <a:txBody>
                    <a:bodyPr/>
                    <a:lstStyle/>
                    <a:p>
                      <a:r>
                        <a:rPr lang="en-US" dirty="0"/>
                        <a:t>Greenberg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0-24 km/h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Congested Conditions, Low speed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672269"/>
                  </a:ext>
                </a:extLst>
              </a:tr>
            </a:tbl>
          </a:graphicData>
        </a:graphic>
      </p:graphicFrame>
      <p:pic>
        <p:nvPicPr>
          <p:cNvPr id="5" name="Content Placeholder 4" descr="A graph showing a speed versus flow&#10;&#10;AI-generated content may be incorrect.">
            <a:extLst>
              <a:ext uri="{FF2B5EF4-FFF2-40B4-BE49-F238E27FC236}">
                <a16:creationId xmlns:a16="http://schemas.microsoft.com/office/drawing/2014/main" id="{6A33C4E1-5B83-EB69-2C2D-FBACA16375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41102" y="3675988"/>
            <a:ext cx="4187803" cy="284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9726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860FC-00D0-CD72-BC76-B0CC3CCD5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53777-8F55-47AA-3956-FAE47842B72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sz="1800" dirty="0"/>
              <a:t>Explored mathematical + ML approaches for traffic flow estimation</a:t>
            </a:r>
          </a:p>
          <a:p>
            <a:r>
              <a:rPr lang="en-IN" sz="1800" b="1" dirty="0"/>
              <a:t>KNN</a:t>
            </a:r>
            <a:r>
              <a:rPr lang="en-IN" sz="1800" dirty="0"/>
              <a:t> : Best overall for total vehicles (lowest SE)</a:t>
            </a:r>
          </a:p>
          <a:p>
            <a:r>
              <a:rPr lang="en-IN" sz="1800" b="1" dirty="0"/>
              <a:t>Random Forest &amp; Gradient Boosting</a:t>
            </a:r>
            <a:r>
              <a:rPr lang="en-IN" sz="1800" dirty="0"/>
              <a:t> : Stable and reliable alternatives</a:t>
            </a:r>
          </a:p>
          <a:p>
            <a:r>
              <a:rPr lang="en-IN" sz="1800" b="1" dirty="0"/>
              <a:t>SVR</a:t>
            </a:r>
            <a:r>
              <a:rPr lang="en-IN" sz="1800" dirty="0"/>
              <a:t> : Strong for heavy vehicle patterns</a:t>
            </a:r>
          </a:p>
          <a:p>
            <a:r>
              <a:rPr lang="en-IN" sz="1800" b="1" dirty="0"/>
              <a:t>Hybrid Density Model</a:t>
            </a:r>
            <a:r>
              <a:rPr lang="en-IN" sz="1800" dirty="0"/>
              <a:t>: Effective for total vehicle estimation and provides interpretability grounded in traffic theory</a:t>
            </a:r>
          </a:p>
          <a:p>
            <a:pPr marL="0" indent="0">
              <a:buNone/>
            </a:pPr>
            <a:r>
              <a:rPr lang="en-IN" sz="1800" b="1" dirty="0"/>
              <a:t>Overall Insight: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ML outperforms classical methods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Hybrid Density is valuable for aggregate flow prediction</a:t>
            </a:r>
          </a:p>
          <a:p>
            <a:pPr marL="0" indent="0">
              <a:buNone/>
            </a:pPr>
            <a:r>
              <a:rPr lang="en-IN" sz="1800" b="1" dirty="0"/>
              <a:t>Future Work: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1BB43F-3B48-C30E-39A4-D4C5AAB29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210" y="4395656"/>
            <a:ext cx="876813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Multi-lane vehicle distribution modelling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Extended local training dataset for YOLO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 deep learning architectures (e.g.,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LSTM, TCN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for temporal traffic patterns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Applications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urban ITS &amp; congestion analytics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274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4813" y="2969342"/>
            <a:ext cx="2703871" cy="766916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67977639"/>
      </p:ext>
    </p:extLst>
  </p:cSld>
  <p:clrMapOvr>
    <a:masterClrMapping/>
  </p:clrMapOvr>
</p:sld>
</file>

<file path=ppt/theme/theme1.xml><?xml version="1.0" encoding="utf-8"?>
<a:theme xmlns:a="http://schemas.openxmlformats.org/drawingml/2006/main" name="IITR_PPT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ITR_template_sudiproy.pptx" id="{E7BE3218-A97E-4E6F-BE9F-92D6192B2CD5}" vid="{3EDE8FBA-E8F1-4B0B-AEA8-7DC234A91AE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1fe9780-2572-4b59-98ed-c9eb7ed8d0d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5A66C4FCA44F4495BFDA313ED8A454" ma:contentTypeVersion="15" ma:contentTypeDescription="Create a new document." ma:contentTypeScope="" ma:versionID="1747a6643b24c94d249bb6c703ded922">
  <xsd:schema xmlns:xsd="http://www.w3.org/2001/XMLSchema" xmlns:xs="http://www.w3.org/2001/XMLSchema" xmlns:p="http://schemas.microsoft.com/office/2006/metadata/properties" xmlns:ns3="d1fe9780-2572-4b59-98ed-c9eb7ed8d0d9" xmlns:ns4="230ee525-3db3-40f1-9400-358566b1106b" targetNamespace="http://schemas.microsoft.com/office/2006/metadata/properties" ma:root="true" ma:fieldsID="4983f4bee597f096ff0adbdffefe9d7e" ns3:_="" ns4:_="">
    <xsd:import namespace="d1fe9780-2572-4b59-98ed-c9eb7ed8d0d9"/>
    <xsd:import namespace="230ee525-3db3-40f1-9400-358566b1106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LengthInSeconds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fe9780-2572-4b59-98ed-c9eb7ed8d0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e525-3db3-40f1-9400-358566b1106b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65C0CFE-3570-4040-874B-94790BEBD429}">
  <ds:schemaRefs>
    <ds:schemaRef ds:uri="230ee525-3db3-40f1-9400-358566b1106b"/>
    <ds:schemaRef ds:uri="d1fe9780-2572-4b59-98ed-c9eb7ed8d0d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D3DA09E-61C9-4C4D-846A-78A0F8C508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BB8D98-7187-43E9-AFDC-809EAEE6633E}">
  <ds:schemaRefs>
    <ds:schemaRef ds:uri="230ee525-3db3-40f1-9400-358566b1106b"/>
    <ds:schemaRef ds:uri="d1fe9780-2572-4b59-98ed-c9eb7ed8d0d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IITR_template_sudiproy</Template>
  <TotalTime>186</TotalTime>
  <Words>867</Words>
  <Application>Microsoft Office PowerPoint</Application>
  <PresentationFormat>On-screen Show (4:3)</PresentationFormat>
  <Paragraphs>161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Courier New</vt:lpstr>
      <vt:lpstr>Franklin Gothic Demi</vt:lpstr>
      <vt:lpstr>Times New Roman</vt:lpstr>
      <vt:lpstr>IITR_PPT_Template</vt:lpstr>
      <vt:lpstr>PowerPoint Presentation</vt:lpstr>
      <vt:lpstr>Origin of the idea</vt:lpstr>
      <vt:lpstr>Objectives </vt:lpstr>
      <vt:lpstr>Training Dataset </vt:lpstr>
      <vt:lpstr>Testing Dataset – Collection</vt:lpstr>
      <vt:lpstr>Testing dataset – Collection </vt:lpstr>
      <vt:lpstr>Testing Dataset – Collection </vt:lpstr>
      <vt:lpstr>Testing dataset – Extraction </vt:lpstr>
      <vt:lpstr>Modelling  </vt:lpstr>
      <vt:lpstr>Results </vt:lpstr>
      <vt:lpstr>Inferences</vt:lpstr>
      <vt:lpstr>Modelling – Density and Flow</vt:lpstr>
      <vt:lpstr>Density Calculation </vt:lpstr>
      <vt:lpstr>Hybrid Model</vt:lpstr>
      <vt:lpstr>Conclusion</vt:lpstr>
      <vt:lpstr>Thank you</vt:lpstr>
    </vt:vector>
  </TitlesOfParts>
  <Manager>Dr. Sudip Roy</Manager>
  <Company>IIT Roorkee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IITR PPT Template</dc:subject>
  <dc:creator>Dr. Sudip Roy</dc:creator>
  <cp:lastModifiedBy>Chaitanya Kantipudi</cp:lastModifiedBy>
  <cp:revision>7</cp:revision>
  <dcterms:created xsi:type="dcterms:W3CDTF">2015-07-18T13:17:54Z</dcterms:created>
  <dcterms:modified xsi:type="dcterms:W3CDTF">2025-11-03T11:11:53Z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0x010100EF5A66C4FCA44F4495BFDA313ED8A454</vt:lpwstr>
  </property>
</Properties>
</file>